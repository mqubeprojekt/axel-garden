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822960"/>
            <a:ext cx="3291840" cy="329184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2194560" cy="21945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Sci2Cap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Brücke zwischen Wissenschaft, Unternehmertum und Kapital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237744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EINLADUNG ZUM MITGESTALTEN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Übersetzungslücke, keine Technologielücke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846320" cy="3794760"/>
          </a:xfrm>
          <a:prstGeom prst="roundRect">
            <a:avLst>
              <a:gd name="adj" fmla="val 2892"/>
            </a:avLst>
          </a:prstGeom>
          <a:solidFill>
            <a:srgbClr val="EE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041" y="23870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95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Wissenschaftler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2461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 das Problem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Entwickelt die Lösung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Argumentiert wissenschaftlich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92240" y="1965960"/>
            <a:ext cx="4846320" cy="3794760"/>
          </a:xfrm>
          <a:prstGeom prst="roundRect">
            <a:avLst>
              <a:gd name="adj" fmla="val 2892"/>
            </a:avLst>
          </a:prstGeom>
          <a:solidFill>
            <a:srgbClr val="EE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12280" y="2286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321" y="238704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395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Investor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812280" y="32461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Fragt nach Marktgröße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Fragt nach Skalierbarkeit &amp; Exit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Fragt nach Rendite &amp; Schutzrechten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513832" y="3520440"/>
            <a:ext cx="1143000" cy="11430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5" name="Text 11"/>
          <p:cNvSpPr/>
          <p:nvPr/>
        </p:nvSpPr>
        <p:spPr>
          <a:xfrm>
            <a:off x="5513832" y="3520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?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Beispiel aus der Praxis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232C52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72821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282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FORSCHER SAGT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673352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„Wir haben ein neuartiges katalytisches Verfahren zur Reduktion von Stickoxiden entwickelt.“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232C52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341985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8A3B3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198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INVESTOR HÖRT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364992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„Verstehe ich nicht.“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232C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511149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C9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1114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GEMEINT IST EIGENTLICH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5056632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„Wir senken die Kosten von Industrie-Abgasreinigung um 30 % und erschließen einen Milliardenmarkt.“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Lösung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0B4F6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0160" y="14173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„Das Risiko für Investoren wird reduziert, indem wissenschaftliche Ideen strukturiert in wirtschaftliche Chancen übersetzt und vorqualifiziert werden.“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822960" cy="822960"/>
          </a:xfrm>
          <a:prstGeom prst="ellipse">
            <a:avLst/>
          </a:prstGeom>
          <a:solidFill>
            <a:srgbClr val="EE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37645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Schutzschild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5029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Schützt Ideengeber vor Ideenklau und Bürokratie-Hürden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3657600"/>
            <a:ext cx="822960" cy="822960"/>
          </a:xfrm>
          <a:prstGeom prst="ellipse">
            <a:avLst/>
          </a:prstGeom>
          <a:solidFill>
            <a:srgbClr val="EEF4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385" y="376458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Übersetzer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023360" y="5029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Überführt technischen in wirtschaftlichen Nutzen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63840" y="3657600"/>
            <a:ext cx="822960" cy="822960"/>
          </a:xfrm>
          <a:prstGeom prst="ellipse">
            <a:avLst/>
          </a:prstGeom>
          <a:solidFill>
            <a:srgbClr val="EEF4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825" y="3764585"/>
            <a:ext cx="608990" cy="6089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380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Vertrauensinstanz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543800" y="5029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Garantiert Augenhöhe zwischen beiden Marktseiten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Seiten, eine Vertrauensinstanz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4846320" cy="4297680"/>
          </a:xfrm>
          <a:prstGeom prst="roundRect">
            <a:avLst>
              <a:gd name="adj" fmla="val 2553"/>
            </a:avLst>
          </a:prstGeom>
          <a:solidFill>
            <a:srgbClr val="EEF4F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187817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Ideengeber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4300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Forschungseinrichtungen, Erfinder, Nischen-Start-ups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SCHMERZPUNKT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3000" y="3310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 vor Ideenklau, Scheitern an Konzern-Bürokratie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VERTRAUENS-HEBEL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43000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Sci2Cap agiert als Schutzschild und Übersetzer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1463040"/>
            <a:ext cx="4846320" cy="4297680"/>
          </a:xfrm>
          <a:prstGeom prst="roundRect">
            <a:avLst>
              <a:gd name="adj" fmla="val 2553"/>
            </a:avLst>
          </a:prstGeom>
          <a:solidFill>
            <a:srgbClr val="EE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812280" y="1783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378" y="187817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Umsetzer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681228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Mittelstand, Konzerne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1228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SCHMERZPUNKT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812280" y="3310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passenden Partner, kulturelle Kluft zur Start-up-Mentalität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81228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VERTRAUENS-HEBEL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12280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Sci2Cap validiert Partner vorab und moderiert die Annäherung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Prozess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Erfindung zur Investor-Story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6207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258775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Wissenschaft verstehen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08152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wurde erfunden?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02152" y="18745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4126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85032" y="258775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identifizieren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85032" y="308152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hat dieses Problem?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81344" y="18745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574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045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64224" y="258775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quantifizieren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64224" y="308152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Geld spart/verdient die Lösung?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18745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2057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9964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043416" y="258775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 analysieren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43416" y="308152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Alternativen?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406908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5196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862072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005840" y="4782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 entwickeln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05840" y="527608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verdient man Geld?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02152" y="406908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425196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41264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685032" y="4782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Story entwickeln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85032" y="527608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lohnt sich ein Investment?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81344" y="406908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EF4F6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4251960"/>
            <a:ext cx="411480" cy="4114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20456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364224" y="47823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suchen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64224" y="5276088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Unternehmen, Investoren, Fördermittel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Geschäftsmodell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Vermittlungsprovision – sondern partnerschaftliche Wertschöpfung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1945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154" y="22837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+ Erfolgsprämie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2971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Laufendes Honorar für Beziehungsaufbau, plus Erfolgsprämie bei erfolgreicher Allianz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945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228371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Schnittstellen-Beratung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Honorierung für Moderation und Begleitung des Kennenlernprozesses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251960"/>
            <a:ext cx="10515600" cy="1691640"/>
          </a:xfrm>
          <a:prstGeom prst="roundRect">
            <a:avLst>
              <a:gd name="adj" fmla="val 6486"/>
            </a:avLst>
          </a:prstGeom>
          <a:solidFill>
            <a:srgbClr val="0B4F6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455371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041" y="4654753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572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NEU: Förderberatung &amp; -anbahnung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148840" y="4983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eigenständiger, honorierbarer Baustein – erschließbar durch gezielte ESF-Expertise, nicht nur als Add-on, sondern als Differenzierung im Markt.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Wettbewerbslandschaft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5819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Matchmaking-Plattformen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51560" y="21945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Reichweite, aber rein daten-/technologiebasiert, ohne menschliche Moderation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4173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5819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M&amp;A-Berater / Corporate Finance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92240" y="21945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Transaktionsfokussiert, auf schnelle Abschlüsse statt langfristiges Vertrauen ausgerichtet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" y="33375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66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5021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Inkubatoren &amp; Akzeleratoren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51560" y="4114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Begleiten Start-ups, oft parteiisch statt neutrale Brückenbauer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63640" y="33375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EEF4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5661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0" y="35021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Universitäre Transferstellen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492240" y="4114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 die Technologie, sprechen aber selten die Sprache der freien Wirtschaft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20" name="Text 14"/>
          <p:cNvSpPr/>
          <p:nvPr/>
        </p:nvSpPr>
        <p:spPr>
          <a:xfrm>
            <a:off x="1097280" y="55321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Sci2Caps Differenzierung: Eine neutrale, menschlich moderierte Vertrauensinstanz – in dieser Form von keinem Wettbewerber abgedeckt.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gerade Sie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ESF-Erfahrung schließt eine konkrete Lücke im Geschäftsmodell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232C5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321" y="22498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0299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EXIST-Forschungstransfer &amp; EXIST-Gründungsstipendium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103120" y="246888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Fördern exakt den Übergang von Forschung in unternehmerische Verwertung – die Kernfunktion von Sci2Cap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3832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232C52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6118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21" y="371292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349300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Zukunftszentren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103120" y="393192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Unterstützen KMU bei Innovationsprozessen und digitaler Transformation – relevant für unsere zweite Zielgruppe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50292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0B4F6C"/>
          </a:solidFill>
          <a:ln/>
        </p:spPr>
      </p:sp>
      <p:sp>
        <p:nvSpPr>
          <p:cNvPr id="15" name="Text 11"/>
          <p:cNvSpPr/>
          <p:nvPr/>
        </p:nvSpPr>
        <p:spPr>
          <a:xfrm>
            <a:off x="1234440" y="50292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Ihrer Erfahrung wird aus Fördertöpfen ein konkreter Hebel: geringeres Risiko für Investoren, echter Förderzugang für Sci2Cap, und ein Alleinstellungsmerkmal im Markt.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097280"/>
            <a:ext cx="4114800" cy="41148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Einladung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Sci2Cap steht am Anfang – die Struktur, das Geschäftsmodell und die strategische Ausrichtung sind noch formbar. Ein Einstieg jetzt heißt Mitgestaltung, nicht Einordnung in ein fertiges System.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Gesellschafter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434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strategischer Partner mit Fokus auf Förderzugang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4632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4800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einer gemeinsam entwickelten Form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22960" y="5806440"/>
            <a:ext cx="32918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7"/>
          <p:cNvSpPr/>
          <p:nvPr/>
        </p:nvSpPr>
        <p:spPr>
          <a:xfrm>
            <a:off x="822960" y="5806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Lassen Sie uns sprechen.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Sci2Cap – Einladung zum Mitgestalten</dc:title>
  <dc:subject>PptxGenJS Presentation</dc:subject>
  <dc:creator>Sci2Cap</dc:creator>
  <cp:lastModifiedBy>Sci2Cap</cp:lastModifiedBy>
  <cp:revision>1</cp:revision>
  <dcterms:created xsi:type="dcterms:W3CDTF">2026-07-04T04:44:53Z</dcterms:created>
  <dcterms:modified xsi:type="dcterms:W3CDTF">2026-07-04T04:44:53Z</dcterms:modified>
</cp:coreProperties>
</file>